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Calibri"/>
              </a:defRPr>
            </a:pPr>
            <a:r>
              <a:t>Slurm Agent Tool Access Inventory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latin typeface="Calibri"/>
              </a:defRPr>
            </a:pPr>
            <a:r>
              <a:t>Observer and Operator Tool Surfaces (Current Configuration)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521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Calibri"/>
              </a:defRPr>
            </a:pPr>
            <a:r>
              <a:t>Observer Tool Inventory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822960"/>
          <a:ext cx="115214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5029200"/>
                <a:gridCol w="2560320"/>
                <a:gridCol w="3200400"/>
              </a:tblGrid>
              <a:tr h="331470">
                <a:tc>
                  <a:txBody>
                    <a:bodyPr/>
                    <a:lstStyle/>
                    <a:p>
                      <a:pPr>
                        <a:defRPr b="1" sz="1100"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latin typeface="Calibri"/>
                        </a:defRPr>
                      </a:pPr>
                      <a:r>
                        <a:t>Tool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squeue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MCP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job queries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sacct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MCP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job queries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sstat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MCP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job queries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squeue_steps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MCP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job queries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squeue_reservation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MCP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job queries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sinfo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MCP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node/cluster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sinfo_node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MCP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node/cluster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sinfo_reasons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MCP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node/cluster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scontrol_show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MCP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node/cluster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scontrol_show_config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MCP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node/cluster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scontrol_show_topology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MCP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node/cluster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scontrol_show_step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MCP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node/cluster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scontrol_show_federation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MCP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node/cluster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scontrol_show_burstbuffer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MCP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node/cluster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scontrol_show_aliases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MCP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node/cluster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621792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latin typeface="Calibri"/>
              </a:defRPr>
            </a:pPr>
            <a:r>
              <a:t>Part 1 of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521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Calibri"/>
              </a:defRPr>
            </a:pPr>
            <a:r>
              <a:t>Observer Tool Inventory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822960"/>
          <a:ext cx="115214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5029200"/>
                <a:gridCol w="2560320"/>
                <a:gridCol w="3200400"/>
              </a:tblGrid>
              <a:tr h="331470">
                <a:tc>
                  <a:txBody>
                    <a:bodyPr/>
                    <a:lstStyle/>
                    <a:p>
                      <a:pPr>
                        <a:defRPr b="1" sz="1100"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latin typeface="Calibri"/>
                        </a:defRPr>
                      </a:pPr>
                      <a:r>
                        <a:t>Tool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scontrol_ping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MCP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node/cluster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scontrol_license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MCP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node/cluster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scontrol_reservation_show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MCP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reservations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sacctmgr_list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MCP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accounting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sacctmgr_show_problems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MCP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accounting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sshare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MCP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fairshare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sprio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MCP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priority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sprio_weights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MCP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MCP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reporting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sdiag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MCP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diagnostics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strigger_get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MCP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triggers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read_file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MCP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utility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web_search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MCP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utility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get_mock_state_snapshot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MCP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internal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lookup_skill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FunctionTool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runbooks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621792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latin typeface="Calibri"/>
              </a:defRPr>
            </a:pPr>
            <a:r>
              <a:t>Part 2 of 2 • Hidden from Observer: cluster_history, reset_mock_state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521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Calibri"/>
              </a:defRPr>
            </a:pPr>
            <a:r>
              <a:t>Operator Tool Inventory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822960"/>
          <a:ext cx="115214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5029200"/>
                <a:gridCol w="2560320"/>
                <a:gridCol w="3200400"/>
              </a:tblGrid>
              <a:tr h="265176">
                <a:tc>
                  <a:txBody>
                    <a:bodyPr/>
                    <a:lstStyle/>
                    <a:p>
                      <a:pPr>
                        <a:defRPr b="1" sz="1100"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latin typeface="Calibri"/>
                        </a:defRPr>
                      </a:pPr>
                      <a:r>
                        <a:t>Tool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squeue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MCP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pre-action verify</a:t>
                      </a:r>
                    </a:p>
                  </a:txBody>
                  <a:tcPr/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scontrol_show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MCP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pre-action verify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sbatch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FunctionTool (HITL)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job submission</a:t>
                      </a:r>
                    </a:p>
                  </a:txBody>
                  <a:tcPr/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scancel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FunctionTool (HITL)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job control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scontrol_hold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FunctionTool (HITL)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job control</a:t>
                      </a:r>
                    </a:p>
                  </a:txBody>
                  <a:tcPr/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scontrol_release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FunctionTool (HITL)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job control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scontrol_requeue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FunctionTool (HITL)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job control</a:t>
                      </a:r>
                    </a:p>
                  </a:txBody>
                  <a:tcPr/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scontrol_suspend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FunctionTool (HITL)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job control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scontrol_resume_job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FunctionTool (HITL)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job control</a:t>
                      </a:r>
                    </a:p>
                  </a:txBody>
                  <a:tcPr/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scontrol_update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FunctionTool (HITL)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job control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FunctionTool (HITL)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job submission</a:t>
                      </a:r>
                    </a:p>
                  </a:txBody>
                  <a:tcPr/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salloc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FunctionTool (HITL)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job submission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sattach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FunctionTool (HITL)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job submission</a:t>
                      </a:r>
                    </a:p>
                  </a:txBody>
                  <a:tcPr/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sbcast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FunctionTool (HITL)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job submission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scontrol_node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FunctionTool (HITL)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node management</a:t>
                      </a:r>
                    </a:p>
                  </a:txBody>
                  <a:tcPr/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scontrol_node_power_down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FunctionTool (HITL)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node management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scontrol_node_power_up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FunctionTool (HITL)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node management</a:t>
                      </a:r>
                    </a:p>
                  </a:txBody>
                  <a:tcPr/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scontrol_node_features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FunctionTool (HITL)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node management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scontrol_node_gres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FunctionTool (HITL)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node management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621792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latin typeface="Calibri"/>
              </a:defRPr>
            </a:pPr>
            <a:r>
              <a:t>Part 1 of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521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Calibri"/>
              </a:defRPr>
            </a:pPr>
            <a:r>
              <a:t>Operator Tool Inventory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822960"/>
          <a:ext cx="115214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5029200"/>
                <a:gridCol w="2560320"/>
                <a:gridCol w="3200400"/>
              </a:tblGrid>
              <a:tr h="279132">
                <a:tc>
                  <a:txBody>
                    <a:bodyPr/>
                    <a:lstStyle/>
                    <a:p>
                      <a:pPr>
                        <a:defRPr b="1" sz="1100"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latin typeface="Calibri"/>
                        </a:defRPr>
                      </a:pPr>
                      <a:r>
                        <a:t>Tool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scontrol_node_weight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FunctionTool (HITL)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node management</a:t>
                      </a:r>
                    </a:p>
                  </a:txBody>
                  <a:tcPr/>
                </a:tc>
              </a:tr>
              <a:tr h="279132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scontrol_create_reservation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FunctionTool (HITL)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reservations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scontrol_delete_reservation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FunctionTool (HITL)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reservations</a:t>
                      </a:r>
                    </a:p>
                  </a:txBody>
                  <a:tcPr/>
                </a:tc>
              </a:tr>
              <a:tr h="279132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scontrol_update_reservation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FunctionTool (HITL)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reservations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scontrol_reconfigure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FunctionTool (HITL)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cluster control</a:t>
                      </a:r>
                    </a:p>
                  </a:txBody>
                  <a:tcPr/>
                </a:tc>
              </a:tr>
              <a:tr h="279132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scontrol_write_config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FunctionTool (HITL)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cluster control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scontrol_setdebug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FunctionTool (HITL)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cluster control</a:t>
                      </a:r>
                    </a:p>
                  </a:txBody>
                  <a:tcPr/>
                </a:tc>
              </a:tr>
              <a:tr h="279132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scontrol_token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FunctionTool (HITL)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cluster control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scontrol_shutdown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FunctionTool (HITL)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cluster control</a:t>
                      </a:r>
                    </a:p>
                  </a:txBody>
                  <a:tcPr/>
                </a:tc>
              </a:tr>
              <a:tr h="279132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sacctmgr_add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FunctionTool (HITL)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accounting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sacctmgr_modify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FunctionTool (HITL)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accounting</a:t>
                      </a:r>
                    </a:p>
                  </a:txBody>
                  <a:tcPr/>
                </a:tc>
              </a:tr>
              <a:tr h="279132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sacctmgr_delete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FunctionTool (HITL)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accounting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sacctmgr_recalc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FunctionTool (HITL)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accounting</a:t>
                      </a:r>
                    </a:p>
                  </a:txBody>
                  <a:tcPr/>
                </a:tc>
              </a:tr>
              <a:tr h="279132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33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sacctmgr_archive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FunctionTool (HITL)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accounting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sacctmgr_load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FunctionTool (HITL)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accounting</a:t>
                      </a:r>
                    </a:p>
                  </a:txBody>
                  <a:tcPr/>
                </a:tc>
              </a:tr>
              <a:tr h="279132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sacctmgr_dump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FunctionTool (HITL)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accounting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279132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strigger_set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FunctionTool (HITL)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triggers</a:t>
                      </a:r>
                    </a:p>
                  </a:txBody>
                  <a:tcPr/>
                </a:tc>
              </a:tr>
              <a:tr h="279144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37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strigger_clear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FunctionTool (HITL)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triggers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621792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latin typeface="Calibri"/>
              </a:defRPr>
            </a:pPr>
            <a:r>
              <a:t>Part 2 of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1521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latin typeface="Calibri"/>
              </a:defRPr>
            </a:pPr>
            <a:r>
              <a:t>Totals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88720" y="1097280"/>
          <a:ext cx="97840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0"/>
                <a:gridCol w="3200400"/>
              </a:tblGrid>
              <a:tr h="579120">
                <a:tc>
                  <a:txBody>
                    <a:bodyPr/>
                    <a:lstStyle/>
                    <a:p>
                      <a:pPr>
                        <a:defRPr b="1" sz="1400"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Observer MCP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29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Observer FunctionTools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1 (lookup_skill)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Operator MCP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Operator FunctionTools (HITL)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37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MCP server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71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88720" y="4937760"/>
            <a:ext cx="97840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Calibri"/>
              </a:defRPr>
            </a:pPr>
            <a:r>
              <a:t>Hidden from Observer (present on MCP but filtered): cluster_history, reset_mock_state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