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Benchmark Comparison (1/2)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116128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029200"/>
                <a:gridCol w="4297680"/>
              </a:tblGrid>
              <a:tr h="883920">
                <a:tc>
                  <a:txBody>
                    <a:bodyPr wrap="square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</a:rPr>
                        <a:t>Paper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</a:rPr>
                        <a:t>Why it matches your system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</a:rPr>
                        <a:t>Compare 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883920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000000"/>
                          </a:solidFill>
                        </a:rPr>
                        <a:t>NL2Bash (2018)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000000"/>
                          </a:solidFill>
                        </a:rPr>
                        <a:t>Closest to NL-&gt;shell command translation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000000"/>
                          </a:solidFill>
                        </a:rPr>
                        <a:t>command/tool selection accuracy, exact-match/action-match</a:t>
                      </a:r>
                    </a:p>
                  </a:txBody>
                  <a:tcPr/>
                </a:tc>
              </a:tr>
              <a:tr h="883920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000000"/>
                          </a:solidFill>
                        </a:rPr>
                        <a:t>InterCode (2023)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000000"/>
                          </a:solidFill>
                        </a:rPr>
                        <a:t>Interactive Bash/SQL/Python with execution feedback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000000"/>
                          </a:solidFill>
                        </a:rPr>
                        <a:t>multi-turn success, state-correct completion</a:t>
                      </a:r>
                    </a:p>
                  </a:txBody>
                  <a:tcPr/>
                </a:tc>
              </a:tr>
              <a:tr h="883920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000000"/>
                          </a:solidFill>
                        </a:rPr>
                        <a:t>AgentBench (ICLR 2024)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000000"/>
                          </a:solidFill>
                        </a:rPr>
                        <a:t>General LLM-agent benchmark in interactive environments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000000"/>
                          </a:solidFill>
                        </a:rPr>
                        <a:t>routing reliability, multi-step decision quality</a:t>
                      </a:r>
                    </a:p>
                  </a:txBody>
                  <a:tcPr/>
                </a:tc>
              </a:tr>
              <a:tr h="883920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000000"/>
                          </a:solidFill>
                        </a:rPr>
                        <a:t>ToolBench paper (2023)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000000"/>
                          </a:solidFill>
                        </a:rPr>
                        <a:t>Tool-manipulation benchmark for real APIs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000000"/>
                          </a:solidFill>
                        </a:rPr>
                        <a:t>tool recall, wrong-tool rate, tool-chain success</a:t>
                      </a:r>
                    </a:p>
                  </a:txBody>
                  <a:tcPr/>
                </a:tc>
              </a:tr>
              <a:tr h="883920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000000"/>
                          </a:solidFill>
                        </a:rPr>
                        <a:t>MCP-AgentBench (2025)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000000"/>
                          </a:solidFill>
                        </a:rPr>
                        <a:t>MCP-native tool benchmark (very close to your architecture)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000000"/>
                          </a:solidFill>
                        </a:rPr>
                        <a:t>MCP tool success, interoperability, outcome-based success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Benchmark Comparison (2/2)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116128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029200"/>
                <a:gridCol w="4297680"/>
              </a:tblGrid>
              <a:tr h="1060704">
                <a:tc>
                  <a:txBody>
                    <a:bodyPr wrap="square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</a:rPr>
                        <a:t>Paper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</a:rPr>
                        <a:t>Why it matches your system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</a:rPr>
                        <a:t>Compare 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1060704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000000"/>
                          </a:solidFill>
                        </a:rPr>
                        <a:t>Agent-SafetyBench (2024/2025)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000000"/>
                          </a:solidFill>
                        </a:rPr>
                        <a:t>Safety failures in tool-using agents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000000"/>
                          </a:solidFill>
                        </a:rPr>
                        <a:t>HITL trigger quality, unsafe-action prevention</a:t>
                      </a:r>
                    </a:p>
                  </a:txBody>
                  <a:tcPr/>
                </a:tc>
              </a:tr>
              <a:tr h="1060704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000000"/>
                          </a:solidFill>
                        </a:rPr>
                        <a:t>R-Judge (EMNLP Findings 2024)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000000"/>
                          </a:solidFill>
                        </a:rPr>
                        <a:t>Risk-awareness benchmark from interaction traces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000000"/>
                          </a:solidFill>
                        </a:rPr>
                        <a:t>risk detection before tool execution</a:t>
                      </a:r>
                    </a:p>
                  </a:txBody>
                  <a:tcPr/>
                </a:tc>
              </a:tr>
              <a:tr h="1060704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000000"/>
                          </a:solidFill>
                        </a:rPr>
                        <a:t>GAP benchmark (2026)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000000"/>
                          </a:solidFill>
                        </a:rPr>
                        <a:t>Text refusal vs actual harmful tool-call divergence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000000"/>
                          </a:solidFill>
                        </a:rPr>
                        <a:t>"said no but still executed" failure rate</a:t>
                      </a:r>
                    </a:p>
                  </a:txBody>
                  <a:tcPr/>
                </a:tc>
              </a:tr>
              <a:tr h="1060704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000000"/>
                          </a:solidFill>
                        </a:rPr>
                        <a:t>Cluster Workload Allocation (IEEE Access 2026)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000000"/>
                          </a:solidFill>
                        </a:rPr>
                        <a:t>Domain-near baseline for NL-driven cluster scheduling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000000"/>
                          </a:solidFill>
                        </a:rPr>
                        <a:t>intent parsing quality, scheduling outcome quality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